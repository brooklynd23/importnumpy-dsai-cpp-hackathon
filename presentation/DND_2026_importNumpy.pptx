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5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54864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5 Conclusions That Would Kill Your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202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 Data Integrity Analysis of Global Health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Team importNumpy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9E9E"/>
                </a:solidFill>
                <a:latin typeface="Calibri"/>
              </a:rPr>
              <a:t>DND Spring 2026 Datathon  ·  Cal Poly Pomona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9E9E"/>
                </a:solidFill>
                <a:latin typeface="Calibri"/>
              </a:rPr>
              <a:t>Dataset: Global Health Statistics  ·  1,000,000 rows  ·  20 countries  ·  2000–2024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What’s in the Data — and What’s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5440680" cy="347472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MEASURED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00200"/>
            <a:ext cx="5440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Outcomes: mortality_rate, recovery_rate, DALYs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Access proxies: healthcare_access, doctors_per_1000,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hospital_beds_per_1000, resource_index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Socioeconomic: per_capita_income, education_index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Geography proxy: urbanization_rate → 3 tier schemes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Structure: country, year, disease, age_group, gender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Scale: 1M rows · 119,978 unique combinations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3368" y="1143000"/>
            <a:ext cx="5440680" cy="347472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8" y="11612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NOT MEASURED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600200"/>
            <a:ext cx="5440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85D40"/>
                </a:solidFill>
                <a:latin typeface="Calibri"/>
              </a:rPr>
              <a:t>• Distance-to-care (travel time, proximity)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85D40"/>
                </a:solidFill>
                <a:latin typeface="Calibri"/>
              </a:rPr>
              <a:t>• Facility locations or density maps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85D40"/>
                </a:solidFill>
                <a:latin typeface="Calibri"/>
              </a:rPr>
              <a:t>• Utilization (visits, admissions, claims)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85D40"/>
                </a:solidFill>
                <a:latin typeface="Calibri"/>
              </a:rPr>
              <a:t>• Continuity-of-care metrics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85D40"/>
                </a:solidFill>
                <a:latin typeface="Calibri"/>
              </a:rPr>
              <a:t>• Real-world reporting variation or missingness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B3A6B"/>
                </a:solidFill>
                <a:latin typeface="Calibri"/>
              </a:rPr>
              <a:t>All claims are labeled: DESCRIPTIVE | ROBUSTNESS | ILLUSTRATIVE — see appendix for evidence contract.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Clean Data ≠ Realistic Data — Six Synthetic Signatures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5440680" cy="347472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QUALITY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00200"/>
            <a:ext cx="5440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0% missingness across all 25 columns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0 out-of-range values on all rate columns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1,000,000 rows, all pass quality flags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119,978 / 120,000 possible combinations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present (99.98%)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• All 20 disease names correctly mapped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3368" y="1143000"/>
            <a:ext cx="5440680" cy="347472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8" y="116128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SYNTHETIC SIGNATURES 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600200"/>
            <a:ext cx="5440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⚠  Near-Cartesian coverage: 99.98% of all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(country × year × disease × age × gender) cells filled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⚠  Near-zero dependence: |r|max = 0.0023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across 14 variables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⚠  Bounded-range match: observed mean/SD match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Uniform(a,b) expectations to &lt;0.01% error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⚠  Homogeneous countries: mortality SD across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20 countries = 0.013 (ANOVA η² = 0.0000208)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⚠  Randomized disease labels: entropy = 3.459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≈ theoretical max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⚠  Strict 2-decimal quantization: 100% of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numeric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Geography Explains 0.002% of Mortality Variance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5440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This Dataset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Real-World Expected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Access ↔ Mortality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−0.30 to −0.50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Income ↔ Mortality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−0.0015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−0.20 to −0.40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Country ANOVA η²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0.0000208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0.05 to 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Year trend η²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0.0000106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0.01 to 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61188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E9E9E"/>
                </a:solidFill>
                <a:latin typeface="Calibri"/>
              </a:rPr>
              <a:t>Expected ranges from WHO/Lancet global health literature. Observed values are descriptive of this dataset only.</a:t>
            </a:r>
          </a:p>
        </p:txBody>
      </p:sp>
      <p:pic>
        <p:nvPicPr>
          <p:cNvPr id="6" name="Picture 5" descr="bench_q6_dumbbell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143000"/>
            <a:ext cx="544068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68712" y="6309360"/>
            <a:ext cx="1508760" cy="27432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ILLUSTRATIVE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TRAP #1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“Rural Areas Have Worse Outcomes” — Evidence: ABSENT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27048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Common claim: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Urban/rural classification predicts health outcomes.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What we found (DESCRIPTIVE):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Cohen’s d &lt; 0.01 for all tier pairs (negligible effect)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ANOVA η² = 0.0000208 (geography explains 0.002%)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p &lt; 0.001 — but N=1M makes everything significant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Absolute mortality difference Rural vs Urban: &lt; 0.05pp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Why it’s premature: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Statistical significance ≠ practical significance.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With 1M rows, any noise clears p-value thresholds.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Safer framing: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“We cannot distinguish outcomes across urbanization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tiers with this dataset. Report effect sizes, not p-values.”</a:t>
            </a:r>
          </a:p>
        </p:txBody>
      </p:sp>
      <p:pic>
        <p:nvPicPr>
          <p:cNvPr id="7" name="Picture 6" descr="q1_effect_size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27048"/>
            <a:ext cx="54406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8521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8C4E"/>
                </a:solidFill>
                <a:latin typeface="Calibri"/>
              </a:rPr>
              <a:t>✓ Use effect sizes (Cohen’s d, η²), not p-values with large 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TRAP #2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“Healthcare Access Improves Outcomes” — Evidence: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27048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Common claim: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Higher healthcare access scores → lower mortality rates.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What we found (DESCRIPTIVE):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Pearson r (access ↔ mortality) = 0.00008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R² &lt; 0.000001 — access explains essentially 0% of variance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No dose-response at any access decile threshold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Spearman ρ consistent: no monotonic relationship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Critical gap: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Distance-to-care and utilization are NOT in this dataset.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“Healthcare access” is a proxy index, not a distance measure.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Safer framing: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“This dataset cannot support an access-outcome causal claim.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Collecting travel time and utilization data is the prerequisite.”</a:t>
            </a:r>
          </a:p>
        </p:txBody>
      </p:sp>
      <p:pic>
        <p:nvPicPr>
          <p:cNvPr id="7" name="Picture 6" descr="q2_scatter_access_mort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27048"/>
            <a:ext cx="54406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852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D40"/>
                </a:solidFill>
                <a:latin typeface="Calibri"/>
              </a:rPr>
              <a:t>⚠ Distance-to-care: NOT MEASURED. Access proxies used only. See prompt_gap_matrix.md.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TRAP #3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“Country X Is an Outlier Worth Studying” — Evidence: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27048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Common claim: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High z-score countries represent exceptional systems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worth studying or emulating.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What we found (DESCRIPTIVE):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Some countries show high z-scores on access vs outcomes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Absolute mortality differences: &lt; 0.5 percentage points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Between-country SD: 0.013 on mortality (scale: 0–10)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Effect is noise-level at this resolution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Why it’s premature: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Z-scores inflate when within-group variance is near-zero.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A 0.5pp absolute difference is not a policy signal.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Safer framing: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“No country deviates meaningfully in absolute terms.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Statistical outliers here are artifacts of near-zero variance,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not evidence of a distinctive health system.”</a:t>
            </a:r>
          </a:p>
        </p:txBody>
      </p:sp>
      <p:pic>
        <p:nvPicPr>
          <p:cNvPr id="7" name="Picture 6" descr="q3_quadran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27048"/>
            <a:ext cx="544068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TRAP #4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“Tier Definitions Change Conclusions” — Evidence: IRRELEVANT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27048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Common claim: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How you define “urban” vs “rural” changes your findings.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What we found (ROBUSTNESS):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3 tier schemes tested: Default 3-tier, Binary, 4-tier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Maximum spread across schemes: &lt; 0.04 percentage points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ANOVA η² ≈ 0 under all three definitions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Conclusions are identical regardless of classification choice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Why this matters: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Robustness is confirmed — but only because there is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no signal to be sensitive to in the first place.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Tier choice is genuinely irrelevant when the underlying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effect size is zero.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Safer framing: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“Our robustness check is valid, but it validates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a null result — not a policy-relevant pattern.”</a:t>
            </a:r>
          </a:p>
        </p:txBody>
      </p:sp>
      <p:pic>
        <p:nvPicPr>
          <p:cNvPr id="7" name="Picture 6" descr="q4_3panel_tier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27048"/>
            <a:ext cx="544068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1B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TRAP #5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“Sparse Reporting Drives Uncertainty Here” — Evidence: NOT OBSERVED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27048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Common claim: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Data-sparse regions show high uncertainty that distorts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conclusions about access and outcomes.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What we found (DESCRIPTIVE):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Missingness: 0% across all 25 columns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All 640 subgroups (country × disease × age × gender):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  count ≥ 30 — all above minimum threshold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• Confidence intervals are uniformly narrow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Simulation (ILLUSTRATIVE):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We demonstrate what sparsity would look like via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subsampling: removing 95% of data widens CIs dramatically.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This is what the data WOULD show if sparse — it doesn’t.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2D2D2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Safer framing: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“Sparse reporting is a real-world concern we cannot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assess from this dataset. The dataset is fully populated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D2D2D"/>
                </a:solidFill>
                <a:latin typeface="Calibri"/>
              </a:rPr>
              <a:t>  by design. We model the risk via simulation only.”</a:t>
            </a:r>
          </a:p>
        </p:txBody>
      </p:sp>
      <p:pic>
        <p:nvPicPr>
          <p:cNvPr id="7" name="Picture 6" descr="q5_forest_full_vs_s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27048"/>
            <a:ext cx="544068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8712" y="6309360"/>
            <a:ext cx="1508760" cy="27432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ILLUSTRATIVE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Hold Under Repeated-Cell Robustness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Calibri"/>
              </a:rPr>
              <a:t>Each (country × year × disease × age × gender) cell appears ~8.3 times in the dataset. We compared base views vs. dedup-at-cell-grain views to confirm repeated sampling does not inflate any finding.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01168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Base Value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Deduped Value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Q1 Mortality tier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0.0492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0.0489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No artifact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Q2 Access↔mortality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No artifact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Q3 Max country 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No artifact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Q4 Tier scheme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0.038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0.037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No artifact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Q5 Min group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8,318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By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Q6 Max |r| any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D2D2D"/>
                          </a:solidFill>
                          <a:latin typeface="Calibri"/>
                        </a:rPr>
                        <a:t>No artifact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8C4E"/>
                </a:solidFill>
                <a:latin typeface="Calibri"/>
              </a:rPr>
              <a:t>✓ All deltas are noise-level. Repeated sampling per cell does not create spurious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1B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This Is Why Policy Prescriptions Would Be Premature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4406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REAL-WORLD BENCHMARK (Illustrative)</a:t>
            </a:r>
          </a:p>
        </p:txBody>
      </p:sp>
      <p:pic>
        <p:nvPicPr>
          <p:cNvPr id="6" name="Picture 5" descr="bench_q2_scatt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544068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607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9E9E"/>
                </a:solidFill>
                <a:latin typeface="Calibri"/>
              </a:rPr>
              <a:t>Literature-based: access ↔ mortality r ≈ −0.45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1280160"/>
            <a:ext cx="5440680" cy="347472"/>
          </a:xfrm>
          <a:prstGeom prst="rect">
            <a:avLst/>
          </a:prstGeom>
          <a:solidFill>
            <a:srgbClr val="E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8" y="129844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THIS DATASET (Descriptive)</a:t>
            </a:r>
          </a:p>
        </p:txBody>
      </p:sp>
      <p:pic>
        <p:nvPicPr>
          <p:cNvPr id="10" name="Picture 9" descr="q2_scatter_access_mort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737360"/>
            <a:ext cx="544068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57607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D40"/>
                </a:solidFill>
                <a:latin typeface="Calibri"/>
              </a:rPr>
              <a:t>Observed: r = 0.00008 — effectively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080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6B"/>
                </a:solidFill>
                <a:latin typeface="Calibri"/>
              </a:rPr>
              <a:t>The gap between benchmark and observed is the reason policy prescriptions from this dataset would be premature.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ILLUSTRATIVE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8712" y="6309360"/>
            <a:ext cx="1508760" cy="27432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Responsible Analysis Requires Before Policy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44068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READINESS SCORECARD</a:t>
            </a:r>
          </a:p>
        </p:txBody>
      </p:sp>
      <p:pic>
        <p:nvPicPr>
          <p:cNvPr id="6" name="Picture 5" descr="bench_data_readiness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54406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4864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9E9E"/>
                </a:solidFill>
                <a:latin typeface="Calibri"/>
              </a:rPr>
              <a:t>Traffic-light assessment: 8 data requirements for responsible policy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1280160"/>
            <a:ext cx="5440680" cy="347472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8" y="129844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30 / 60 / 90-DAY ROADMAP</a:t>
            </a:r>
          </a:p>
        </p:txBody>
      </p:sp>
      <p:pic>
        <p:nvPicPr>
          <p:cNvPr id="10" name="Picture 9" descr="bench_action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737360"/>
            <a:ext cx="544068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54864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9E9E"/>
                </a:solidFill>
                <a:latin typeface="Calibri"/>
              </a:rPr>
              <a:t>12 concrete next steps — deployable on real data when collected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3A6B"/>
                </a:solidFill>
                <a:latin typeface="Calibri"/>
              </a:rPr>
              <a:t>“The most valuable analysis is the one that knows when NOT to make a recommendation — and shows exactly what it WOULD recommend with the right data.”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68712" y="5989320"/>
            <a:ext cx="1508760" cy="27432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ILLUSTRATIVE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importNumpy  |  DND Spring 2026 Datathon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alibri"/>
              </a:rPr>
              <a:t>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1507</Words>
  <Application>Microsoft Office PowerPoint</Application>
  <PresentationFormat>Custom</PresentationFormat>
  <Paragraphs>246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Danny Tran</cp:lastModifiedBy>
  <cp:revision>1</cp:revision>
  <dcterms:created xsi:type="dcterms:W3CDTF">2013-01-27T09:14:16Z</dcterms:created>
  <dcterms:modified xsi:type="dcterms:W3CDTF">2026-03-01T06:23:39Z</dcterms:modified>
  <cp:category/>
</cp:coreProperties>
</file>